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Bom dia. Isto não é uma reunião sobre um sistema novo — é sobre como o seu dia vai ficar mais fácil. Em uma hora vocês vão sair daqui com o app no telefone e sabendo exatamente o que fazer na segunda de manhã. Peço uma coisa só: se em algum momento parecer trabalho a mais, me interrompam na hora.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Vou ser honesto com vocês: o problema do sistema antigo nunca foi de vocês. Ele pedia que vocês contassem o que tinha acontecido, e ninguém acorda com vontade de preencher formulário depois de um dia na rua. A inversão aqui é essa: o Ventus abre já com a resposta pronta para «o que eu faço agora?». Se ele não economizar tempo de vocês, ele falhou.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Façam agora comigo, leva menos que o café. No iPhone esse passo não é opcional: sem adicionar à tela de início o iOS não deixa chegar nenhum aviso, e vocês vão achar que o app não avisa nada. Não existe atualizar: cada versão nova chega sozinha, e quando chega aparece um aviso discreto — nunca no meio de uma nota de voz.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Vamos começar pelo que vocês vão ver quarenta vezes por dia. Se vocês só aprenderem esta parte hoje, já valeu a reunião.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Repara no que não tem nesta tela: gráfico, meta do trimestre, funil colorido. Três coisas. Quando as três estão resolvidas o app diz «pronto por hoje» e para — não te castiga com mais três, porque senão ninguém termina nunca. Se você quiser mais, existe o «Ver tudo», mas você tem que abrir de propósito.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parte que faz vocês confiarem ou não no sistema. Nenhuma máquina te manda ligar para alguém sem explicar por quê — abre o chip e está tudo lá, inclusive quanto cada motivo pesou. E olha a última linha: se você já falou com o cliente hoje, o sistema tira pontos dele. Ele não quer que você ligue duas vezes para a mesma pessoa.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Aqui está a mudança mais chata e mais importante de todas: não existe «depois eu vejo». Você adia, mas adia PARA UM DIA, e nesse dia a coisa volta. Botão em vez de texto porque botão a gente aperta em um segundo e campo de texto a gente pula. Cinquenta e um dos cinquenta e quatro negócios vivos do sistema antigo não tinham data — foi exatamente por ter uma saída sem compromisso.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São três porque contam o funil inteiro: falar, ser respondido e mover o negócio. O padrão perigoso fica visível no mesmo segundo — anel um cheio e anel três vazio é dia ocupado sem vender. E vocês vão reparar que o anel de Contato começa o dia com dois toques já dados: são de graça, por confirmar a agenda e escolher as três prioridades. A meta sobe de 4 para 8 e depois para 12 ao longo dos meses, e isso está combinado desde hoje.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parte que vocês vão usar mais e a que eu mais quero que vocês testem hoje, aqui, comigo.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regra de ouro é registrar na hora, não à noite. Quarenta segundos falando no carro rendem mais que dez minutos digitando às onze da noite, e a memória está inteira. Dentro do galpão, sem sinal, funciona igual: o áudio fica no telefone e sobe sozinho quando pegar rede. Vocês nunca vão perder um registro por causa de sinal — se perderem, é bug meu e eu quero saber.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Olha o que está acontecendo aqui: ele fez o trabalho chato e te devolve para conferir. Ele nunca salva nada sozinho. E repara no bloco «Ventus sugere» — ele propõe subir a DOR de 3 para 6 e mostra do lado a frase do cliente que justifica. Um toque para aceitar, um toque para descartar. Se ele errar muito, me falem: regra que ninguém aceita a gente desliga.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Agora a parte que gera pipeline. Nada disto é novo na metodologia — o que muda é que o sistema passa a montar a fila em vez de vocês.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Sete toques, cada um com o seu canal e o seu dia — não é o vendedor que decide na hora se manda WhatsApp ou e-mail. Faltam nesta lista o TP4, follow-up no dia 10 perguntando se viu o e-mail, e o TP6, o último e-mail formal no dia 17. O rascunho de cada toque já vem escrito para o canal certo; vocês editam se quiserem. E a etapa 1A a 1D não se arrasta com o dedo: ela se move sozinha conforme o que o cliente responde.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 telefone é fila, porque fila você desce com o polegar; no computador é kanban, porque lá cabe. Não existe arrastar o cartão para outra coluna: para o lead mudar de etapa alguém tem que ter respondido alguma coisa. E o botão de converter em oportunidade está sempre ali — no sistema antigo ele só aparecia se você marcasse reunião agendada, e a gente perdia leads bons por causa disso.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 texto da tela diz exatamente o espírito: «nada de CRM durante o bloco: só ligar, falar e registrar». A fila vem pronta da véspera de propósito — montar lista é trabalho de véspera, nunca da hora de prospectar. Não dá para navegar para outro lugar durante o bloco, e isso é de propósito também: se der, a hora vira arrumação de dados e não entra nenhuma ligação. Terça e quinta a gente faz os quatro ao mesmo tempo.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 minuto, e não dá para pular. Parece burocracia e é o contrário: é a única fonte sistemática de inteligência de mercado que a Ventapel vai ter. Qual objeção sempre aparece com a Venom, com que argumento entra o E-comfill, em que preço a máquina cai. A objeção mais repetida da semana entra na pauta da segunda-feira, e aí ela deixa de ser problema de um e vira problema resolvido dos quatro.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metodologia não mudou uma vírgula. O que mudou é que ela deixou de ser um formulário de autoavaliação e virou o motor que decide o seu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minutos antes da reunião, no carro, uma rolagem só: o que prometi, quem são os contatos, o que falta para o gate. E o selo de cada escala te diz na hora o que está sustentado por prova e o que é chute antigo — verde é prova fresca, âmbar é prova velha, vermelho é nunca documentada. No computador a carteira vira tabela densa, para quando vocês quiserem triar sozinhos.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Seis escalas, quatro portões, e os portões não se pulam — nem no telefone nem no servidor. Isso é bom para vocês: acaba o negócio que está em Negociação há oito meses sem ninguém saber o que falta. O dossiê ainda diz qual escala atacar primeiro, que é sempre a que está mais longe do mínimo — mover uma que falta um ponto não destrava nada.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 é a única regra nova da metodologia, e é inegociável: uma escala só sobe acima de cinco se você puder apontar para algo que o comprador disse ou mandou. Não é desconfiança de vocês — é o que transforma o health score de opinião em fato, e o que faz a reunião de segunda ser honesta. E prestem atenção: baixar uma escala com prova vale exatamente o mesmo que subir. Corrigir é avançar, senão ninguém corrige nunca e o pipeline infla sozinho.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Vão existir dois números e eles vão ser diferentes, e está tudo bem. O declarado é o que você acha; o verificado é o que dá para provar hoje. A distância entre os dois não é para te cobrar — é o mapa do que falta perguntar ao cliente nesta semana. E a prova vence em noventa dias porque cliente muda: o que ele disse em março pode não valer mais em agosto.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Perguntem em português normal, do jeito que vocês falariam comigo. Muitas dessas perguntas ele responde na hora, sem internet, porque a carteira está no aparelho. E a regra que vale para sempre: antes de escrever qualquer coisa ele te mostra o que vai escrever. Se um dia ele mudar um número sozinho, é defeito e eu conserto no mesmo dia.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É a caixa de entrada do que o Ventus entendeu e ainda não é verdade. Campo por campo, não tudo de uma vez, porque quase sempre ele acerta duas coisas e erra uma. O motivo da recusa não é burocracia: é como eu descubro que uma regra está ruim e a desligo antes de irritar vocês. O objetivo é chegar a zero todo dia — leva menos de dois minutos.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Não vai ter ranking, e a razão é aritmética: com quatro pessoas na mesma sala, um ranking cria um primeiro e um último público permanente, e o último é vinte e cinco por cento do time comercial. Vocês veem o carril do colega para saber onde o time está, não para saber quem está ganhando. São cinco troféus para quatro pessoas de propósito — quase sempre todo mundo leva alguma coisa. O meu favorito é o Zelador: zero compromisso vencido e campo em dia. Higiene de dado virando status.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Estas cinco valem contrato: se alguma falhar, é comigo. A sequência conta só dia útil e só Hora Cheia de verdade — abrir o app não conta nada, e feriado não quebra nada. Se um dia cair, aparece um resgate até as dezoito do dia seguinte em vez de um zero na cara. E o último cartão é sério: quem não quiser anel, sequência nem troféu desliga tudo nos Ajustes e continua com agenda e lembretes, sem perder nada. Ninguém vai me perguntar por quê.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linhas, uma semana. Se vocês fizerem só a terceira e a quarta, o resto acontece sozinho. Na sexta a gente senta vinte minutos, olha dois ou três negócios juntos e acerta os números — a pauta é «estamos de acordo no número», não «te peguei». Qualquer coisa que travar, me chamem no mesmo dia: eu prefiro consertar na segunda a descobrir em novembro.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82880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VENTAPEL BRASIL · AGOSTO DE 2026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240280"/>
            <a:ext cx="108813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Ventus</a:t>
            </a:r>
            <a:endParaRPr lang="en-US" sz="6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429000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CRM que diz o que fazer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58064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do time comercial   ·   Victor Hugo · Renata · Andre · Paulo   ·   Ventapel Brasil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CRM de antes pedia relatório. Este trabalha para você.</a:t>
            </a:r>
            <a:endParaRPr lang="en-US" sz="26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72800" cy="914400"/>
        </p:xfrm>
        <a:graphic>
          <a:graphicData uri="http://schemas.openxmlformats.org/drawingml/2006/table">
            <a:tbl>
              <a:tblPr/>
              <a:tblGrid>
                <a:gridCol w="5394960"/>
                <a:gridCol w="557784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CRM de antes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Ventus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Você contava o que já aconteceu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Ele diz o que fazer agora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Painel cheio de gráficos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Três ações e um botão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no fim do dia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Quarenta segundos de voz na rua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 sinal, sem CRM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Funciona sem sinal e sobe sozinho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Instalar no telefone — 30 segundos, sem loja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640080" y="1837944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837944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325880" y="1783080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ventus3.vercel.app no navegador do telefone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40080" y="2679192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2679192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1325880" y="2624328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Android · Chrome: menu ⋮ → Instalar app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0080" y="3520440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325880" y="3465576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iPhone: tem que ser no Safari → botão Compartilhar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640080" y="4361688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40080" y="4361688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325880" y="4306824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iPhone: rolar e tocar em Adicionar à Tela de Início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640080" y="5202936"/>
            <a:ext cx="475488" cy="475488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5202936"/>
            <a:ext cx="475488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25880" y="5148072"/>
            <a:ext cx="1005840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Pronto: ícone próprio e tela inteira, sem APK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1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seu dia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Hoje, os três anéis e a agenda de verdade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SEU DIA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tela Hoje: três ações, e só três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034234" y="1472184"/>
            <a:ext cx="2532926" cy="5020056"/>
          </a:xfrm>
          <a:prstGeom prst="roundRect">
            <a:avLst>
              <a:gd name="adj" fmla="val 505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5400000">
              <a:srgbClr val="1E293B">
                <a:alpha val="35000"/>
              </a:srgbClr>
            </a:outerShdw>
          </a:effectLst>
        </p:spPr>
      </p:sp>
      <p:pic>
        <p:nvPicPr>
          <p:cNvPr id="5" name="Image 0" descr="/tmp/claude-0/-home-user-CRMbr/67fac10a-7b94-5ef8-b73c-e0e770b0dde9/scratchpad/deck-img/01-hoje-ge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98242" y="1536192"/>
            <a:ext cx="2404910" cy="4892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8000962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app abre aqui. Nunca em um painel.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Três cartões, escolhidos por critério, não por sorte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um traz cliente, a ação concreta e dois botões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Arraste → feito · ← adiar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Resolveu as três? «Pronto por hoje». Não vêm outras três.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SEU DIA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«Por que isto?» — a conta fica aberta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65807" y="1472184"/>
            <a:ext cx="3001353" cy="5020056"/>
          </a:xfrm>
          <a:prstGeom prst="roundRect">
            <a:avLst>
              <a:gd name="adj" fmla="val 42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5400000">
              <a:srgbClr val="1E293B">
                <a:alpha val="35000"/>
              </a:srgbClr>
            </a:outerShdw>
          </a:effectLst>
        </p:spPr>
      </p:sp>
      <p:pic>
        <p:nvPicPr>
          <p:cNvPr id="5" name="Image 0" descr="/tmp/claude-0/-home-user-CRMbr/67fac10a-7b94-5ef8-b73c-e0e770b0dde9/scratchpad/deck-img/02-hoje-porqu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815" y="1536192"/>
            <a:ext cx="2873337" cy="4892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75325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Toque no chip e veja sinal por sinal, com o peso de cada um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«Gate travado: DOR 3 &lt; 5 para sair de Qualificação»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«Sem contato: 22 dias desde a última conversa real»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«Ação vencida: venceu há 4 dias»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Falou com o cliente hoje? O cartão desce sozinho.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SEU DIA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Adiar não é esquecer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65807" y="1472184"/>
            <a:ext cx="3001353" cy="5020056"/>
          </a:xfrm>
          <a:prstGeom prst="roundRect">
            <a:avLst>
              <a:gd name="adj" fmla="val 42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5400000">
              <a:srgbClr val="1E293B">
                <a:alpha val="35000"/>
              </a:srgbClr>
            </a:outerShdw>
          </a:effectLst>
        </p:spPr>
      </p:sp>
      <p:pic>
        <p:nvPicPr>
          <p:cNvPr id="5" name="Image 0" descr="/tmp/claude-0/-home-user-CRMbr/67fac10a-7b94-5ef8-b73c-e0e770b0dde9/scratchpad/deck-img/03-hoje-adi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815" y="1536192"/>
            <a:ext cx="2873337" cy="4892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75325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ação sai com data. Sem exceção.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 se escolhe em botões: Hoje · Amanhã · Segunda · +7d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é texto livre — por isso nada some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Adiar cria a tarefa de amanhã, não apaga a de hoje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sistema antigo: 51 de 54 negócios sem data nenhuma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SEU DIA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três anéis: Contato, Conversa, Avanço</a:t>
            </a:r>
            <a:endParaRPr lang="en-US" sz="26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72800" cy="914400"/>
        </p:xfrm>
        <a:graphic>
          <a:graphicData uri="http://schemas.openxmlformats.org/drawingml/2006/table">
            <a:tbl>
              <a:tblPr/>
              <a:tblGrid>
                <a:gridCol w="2834640"/>
                <a:gridCol w="813816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Anel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fecha ele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Contato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Toques executados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Conversa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Interações em que o cliente respondeu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Avanço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 movida com evidência ou reunião realizada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Primeiras semanas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toques · 1 conversa · 1 avanço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2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sem fricção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Falar 40 segundos em vez de digitar 10 minutos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SEM FRICÇÃO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Segure o botão e conte o que aconteceu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65807" y="1472184"/>
            <a:ext cx="3001353" cy="5020056"/>
          </a:xfrm>
          <a:prstGeom prst="roundRect">
            <a:avLst>
              <a:gd name="adj" fmla="val 42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5400000">
              <a:srgbClr val="1E293B">
                <a:alpha val="35000"/>
              </a:srgbClr>
            </a:outerShdw>
          </a:effectLst>
        </p:spPr>
      </p:sp>
      <p:pic>
        <p:nvPicPr>
          <p:cNvPr id="5" name="Image 0" descr="/tmp/claude-0/-home-user-CRMbr/67fac10a-7b94-5ef8-b73c-e0e770b0dde9/scratchpad/deck-img/04-registrar-gravand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815" y="1536192"/>
            <a:ext cx="2873337" cy="4892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75325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Aperta, fala quarenta segundos, solta. Só isso.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estacionamento, saindo da planta, em português mesmo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sem sinal: o áudio fica guardado no aparelho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houver rede, o registro sobe sozinho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Também dá para digitar, colar um e-mail ou mandar foto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REGISTRAR SEM FRICÇÃO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palavra final é sempre sua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271081" y="1472184"/>
            <a:ext cx="2296079" cy="5020056"/>
          </a:xfrm>
          <a:prstGeom prst="roundRect">
            <a:avLst>
              <a:gd name="adj" fmla="val 557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5400000">
              <a:srgbClr val="1E293B">
                <a:alpha val="35000"/>
              </a:srgbClr>
            </a:outerShdw>
          </a:effectLst>
        </p:spPr>
      </p:sp>
      <p:pic>
        <p:nvPicPr>
          <p:cNvPr id="5" name="Image 0" descr="/tmp/claude-0/-home-user-CRMbr/67fac10a-7b94-5ef8-b73c-e0e770b0dde9/scratchpad/deck-img/05-registrar-confirmac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35089" y="1536192"/>
            <a:ext cx="2168063" cy="4892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8237809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Ventus devolve o registro montado: cliente, tipo, resumo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confere e corrige o que estiver errado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Próxima ação e data são obrigatórias para fechar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«Ventus sugere» mostra as escalas que ele subiria, com a citação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Aceitar, corrigir falando ou descartar — uma por uma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3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cadência e a Golden Hour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toques, vinte e um dias, uma hora protegida por dia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CADÊNCIA E GOLDEN HOUR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Sete toques em vinte e um dias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72800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694944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Toque · dia · canal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que vai na mensagem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TP1 · dia 1 · LinkedIn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Conexão + mensagem personalizada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TP2 · dia 3 · WhatsApp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Apresentação curta, pedir reunião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TP3 · dia 6 · E-mail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Caso de referência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TP5 · dia 13 · Telefone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Chamada direta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TP7 · dia 21 · WhatsApp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Mensagem de despedida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CADÊNCIA E GOLDEN HOUR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fila: quem está atrasado grita primeiro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04504" y="1500554"/>
            <a:ext cx="2962656" cy="4954172"/>
          </a:xfrm>
          <a:prstGeom prst="roundRect">
            <a:avLst>
              <a:gd name="adj" fmla="val 432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5400000">
              <a:srgbClr val="1E293B">
                <a:alpha val="35000"/>
              </a:srgbClr>
            </a:outerShdw>
          </a:effectLst>
        </p:spPr>
      </p:sp>
      <p:pic>
        <p:nvPicPr>
          <p:cNvPr id="5" name="Image 0" descr="/tmp/claude-0/-home-user-CRMbr/67fac10a-7b94-5ef8-b73c-e0e770b0dde9/scratchpad/deck-img/08-cadencia-fil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68512" y="1564562"/>
            <a:ext cx="2834640" cy="4826156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645920"/>
            <a:ext cx="7571232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lista só, ordenada pelo toque realmente vencido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 pontinhos mostram em que toque o lead está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atraso aparece em vermelho — não dá para não ver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«Converter em oportunidade» sempre disponível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computador a mesma fila vira kanban de tela cheia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94360" y="4023360"/>
            <a:ext cx="4236720" cy="2423160"/>
          </a:xfrm>
          <a:prstGeom prst="roundRect">
            <a:avLst>
              <a:gd name="adj" fmla="val 226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B">
                <a:alpha val="30000"/>
              </a:srgbClr>
            </a:outerShdw>
          </a:effectLst>
        </p:spPr>
      </p:sp>
      <p:pic>
        <p:nvPicPr>
          <p:cNvPr id="8" name="Image 1" descr="/tmp/claude-0/-home-user-CRMbr/67fac10a-7b94-5ef8-b73c-e0e770b0dde9/scratchpad/deck-img/17-desktop-cadenci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69080"/>
            <a:ext cx="4145280" cy="23317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CADÊNCIA E GOLDEN HOUR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Golden Hour: uma hora, fila pronta, quatro botões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106621" y="1490472"/>
            <a:ext cx="2625899" cy="4974336"/>
          </a:xfrm>
          <a:prstGeom prst="roundRect">
            <a:avLst>
              <a:gd name="adj" fmla="val 487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5400000">
              <a:srgbClr val="1E293B">
                <a:alpha val="35000"/>
              </a:srgbClr>
            </a:outerShdw>
          </a:effectLst>
        </p:spPr>
      </p:sp>
      <p:pic>
        <p:nvPicPr>
          <p:cNvPr id="5" name="Image 0" descr="/tmp/claude-0/-home-user-CRMbr/67fac10a-7b94-5ef8-b73c-e0e770b0dde9/scratchpad/deck-img/09-golden-abertur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70629" y="1554480"/>
            <a:ext cx="2497883" cy="4846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924544" y="1772998"/>
            <a:ext cx="2642616" cy="4409284"/>
          </a:xfrm>
          <a:prstGeom prst="roundRect">
            <a:avLst>
              <a:gd name="adj" fmla="val 484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5400000">
              <a:srgbClr val="1E293B">
                <a:alpha val="35000"/>
              </a:srgbClr>
            </a:outerShdw>
          </a:effectLst>
        </p:spPr>
      </p:sp>
      <p:pic>
        <p:nvPicPr>
          <p:cNvPr id="7" name="Image 1" descr="/tmp/claude-0/-home-user-CRMbr/67fac10a-7b94-5ef8-b73c-e0e770b0dde9/scratchpad/deck-img/10-golden-foc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88552" y="1837006"/>
            <a:ext cx="2514600" cy="42812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640080" y="1783080"/>
            <a:ext cx="5073349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16h por padrão. A fila é montada na véspera, às 18h.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única: sem menu, sem campos, sem CRM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Ligou · Falou · Agendou · Passar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«Falou» pergunta o resultado: interessado, agora não, sem interesse</a:t>
            </a:r>
            <a:endParaRPr lang="en-US" sz="15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200"/>
              </a:spcAft>
              <a:buSzPct val="100000"/>
              <a:buChar char="•"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«Passar» não gasta toque da cadência</a:t>
            </a:r>
            <a:endParaRPr lang="en-US" sz="1500" dirty="0"/>
          </a:p>
        </p:txBody>
      </p:sp>
      <p:sp>
        <p:nvSpPr>
          <p:cNvPr id="9" name="Text 5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CADÊNCIA E GOLDEN HOUR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Sessenta segundos de fechamento que valem o mês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472241" y="1472184"/>
            <a:ext cx="2094919" cy="5020056"/>
          </a:xfrm>
          <a:prstGeom prst="roundRect">
            <a:avLst>
              <a:gd name="adj" fmla="val 6111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5400000">
              <a:srgbClr val="1E293B">
                <a:alpha val="35000"/>
              </a:srgbClr>
            </a:outerShdw>
          </a:effectLst>
        </p:spPr>
      </p:sp>
      <p:pic>
        <p:nvPicPr>
          <p:cNvPr id="5" name="Image 0" descr="/tmp/claude-0/-home-user-CRMbr/67fac10a-7b94-5ef8-b73c-e0e770b0dde9/scratchpad/deck-img/11-golden-fechament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6249" y="1536192"/>
            <a:ext cx="1966903" cy="4892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8438969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«Qual foi a melhor conversa?»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«Qual objeção apareceu mais?»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«O que muda amanhã?»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Responde por voz ou tocando nas opções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Fechou tudo: sela a Hora Cheia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23317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PARTE 4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788920"/>
            <a:ext cx="108813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Enriquecer a oportunidade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7947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PPVVCC, os portões e a regra da prova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6" name="Text 4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ENRIQUECER A OPORTUNIDADE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dossiê: tudo em uma rolagem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841906" y="1490472"/>
            <a:ext cx="1725254" cy="4974336"/>
          </a:xfrm>
          <a:prstGeom prst="roundRect">
            <a:avLst>
              <a:gd name="adj" fmla="val 7420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5400000">
              <a:srgbClr val="1E293B">
                <a:alpha val="35000"/>
              </a:srgbClr>
            </a:outerShdw>
          </a:effectLst>
        </p:spPr>
      </p:sp>
      <p:pic>
        <p:nvPicPr>
          <p:cNvPr id="5" name="Image 0" descr="/tmp/claude-0/-home-user-CRMbr/67fac10a-7b94-5ef8-b73c-e0e770b0dde9/scratchpad/deck-img/06-dossi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05914" y="1554480"/>
            <a:ext cx="1597238" cy="4846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645920"/>
            <a:ext cx="8808634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Feito para ler no estacionamento, antes de entrar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Cabeçalho: saúde, etapa, valor e Ligar · WhatsApp · Voz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 com Feito e Reagendar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Hexágono PPVVCC com o selo de prova de cada escala</a:t>
            </a:r>
            <a:endParaRPr lang="en-US" sz="145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800"/>
              </a:spcAft>
              <a:buSzPct val="100000"/>
              <a:buChar char="•"/>
            </a:pPr>
            <a:r>
              <a:rPr lang="en-US" sz="14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Linha do tempo: nada se apaga, tudo fica registrado</a:t>
            </a:r>
            <a:endParaRPr lang="en-US" sz="1450" dirty="0"/>
          </a:p>
        </p:txBody>
      </p:sp>
      <p:sp>
        <p:nvSpPr>
          <p:cNvPr id="7" name="Shape 4"/>
          <p:cNvSpPr/>
          <p:nvPr/>
        </p:nvSpPr>
        <p:spPr>
          <a:xfrm>
            <a:off x="594360" y="4023360"/>
            <a:ext cx="4236720" cy="2423160"/>
          </a:xfrm>
          <a:prstGeom prst="roundRect">
            <a:avLst>
              <a:gd name="adj" fmla="val 2264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27000" dist="38100" dir="5400000">
              <a:srgbClr val="1E293B">
                <a:alpha val="30000"/>
              </a:srgbClr>
            </a:outerShdw>
          </a:effectLst>
        </p:spPr>
      </p:sp>
      <p:pic>
        <p:nvPicPr>
          <p:cNvPr id="8" name="Image 1" descr="/tmp/claude-0/-home-user-CRMbr/67fac10a-7b94-5ef8-b73c-e0e770b0dde9/scratchpad/deck-img/16-desktop-carteir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4069080"/>
            <a:ext cx="4145280" cy="23317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10" name="Text 6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ENRIQUECER A OPORTUNIDADE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PPVVCC: seis escalas, quatro portões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728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863840"/>
              </a:tblGrid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Escalas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Portões e regras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72A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Dor · Poder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entrar em Qualificação: DOR ≥ 5 e PODER ≥ 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Visão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Apresentação: VISÃO ≥ 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Validação/Teste: VALOR ≥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Controle · Compras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 Negociação: CONTROLE ≥ 7 e COMPRAS ≥ 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Cada escala vai de 0 a 10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33415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Onze níveis já escritos: você escolhe um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28016" marR="128016" marT="91440" marB="9144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ENRIQUECER A OPORTUNIDADE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Acima de 5, só com evidência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700538" y="1472184"/>
            <a:ext cx="2866622" cy="5020056"/>
          </a:xfrm>
          <a:prstGeom prst="roundRect">
            <a:avLst>
              <a:gd name="adj" fmla="val 446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5400000">
              <a:srgbClr val="1E293B">
                <a:alpha val="35000"/>
              </a:srgbClr>
            </a:outerShdw>
          </a:effectLst>
        </p:spPr>
      </p:sp>
      <p:pic>
        <p:nvPicPr>
          <p:cNvPr id="5" name="Image 0" descr="/tmp/claude-0/-home-user-CRMbr/67fac10a-7b94-5ef8-b73c-e0e770b0dde9/scratchpad/deck-img/07-escala-edito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64546" y="1536192"/>
            <a:ext cx="2738606" cy="4892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7667266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Escolha o nível na lista: o texto já vem pronto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Acima do nível 5 a citação é obrigatória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disse, que cargo, quando — e as palavras dele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«Sem fonte não é prova, é opinião»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Corrigir para baixo com prova vale o mesmo que subir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ENRIQUECER A OPORTUNIDADE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Duas notas de saúde, e por quê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80060" y="178308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1228" y="1929384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DECLARADA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681228" y="2441448"/>
            <a:ext cx="31272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média das seis escalas como você marcou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29684" y="178308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530852" y="1929384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SAÚDE VERIFICADA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4530852" y="2441448"/>
            <a:ext cx="31272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mesma média, mas escala sem prova conta zero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79308" y="178308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80476" y="1929384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PROVA VENCE EM 90 DIAS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8380476" y="2441448"/>
            <a:ext cx="31272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Depois disso ela volta a valer zero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2404872" y="406908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2606040" y="4215384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SEMPRE DIVIDE POR 6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2606040" y="4727448"/>
            <a:ext cx="31272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Meia prova vale metade, não dez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254496" y="4069080"/>
            <a:ext cx="3529584" cy="1965960"/>
          </a:xfrm>
          <a:prstGeom prst="roundRect">
            <a:avLst>
              <a:gd name="adj" fmla="val 418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55664" y="4215384"/>
            <a:ext cx="312724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QUÊ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455664" y="4727448"/>
            <a:ext cx="3127248" cy="1143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a conversa de segunda ser sobre fatos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PERGUNTE AO VENTUS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Pergunte ao Ventus — e o que ele nunca faz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565807" y="1472184"/>
            <a:ext cx="3001353" cy="5020056"/>
          </a:xfrm>
          <a:prstGeom prst="roundRect">
            <a:avLst>
              <a:gd name="adj" fmla="val 4265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5400000">
              <a:srgbClr val="1E293B">
                <a:alpha val="35000"/>
              </a:srgbClr>
            </a:outerShdw>
          </a:effectLst>
        </p:spPr>
      </p:sp>
      <p:pic>
        <p:nvPicPr>
          <p:cNvPr id="5" name="Image 0" descr="/tmp/claude-0/-home-user-CRMbr/67fac10a-7b94-5ef8-b73c-e0e770b0dde9/scratchpad/deck-img/13-ventus-cha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9815" y="1536192"/>
            <a:ext cx="2873337" cy="4892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7532535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«O que eu faço hoje?» · «Como está meu pipeline?»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«Quem está sem contato há 15 dias?»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«Que compromissos eu assumi?»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mostra o que vai fazer ANTES de fazer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mexe numa escala sem a sua confirmação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PERGUNTE AO VENTUS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Revisão: ele propõe, você aceita por campo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9212029" y="1472184"/>
            <a:ext cx="2355131" cy="5020056"/>
          </a:xfrm>
          <a:prstGeom prst="roundRect">
            <a:avLst>
              <a:gd name="adj" fmla="val 5436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5400000">
              <a:srgbClr val="1E293B">
                <a:alpha val="35000"/>
              </a:srgbClr>
            </a:outerShdw>
          </a:effectLst>
        </p:spPr>
      </p:sp>
      <p:pic>
        <p:nvPicPr>
          <p:cNvPr id="5" name="Image 0" descr="/tmp/claude-0/-home-user-CRMbr/67fac10a-7b94-5ef8-b73c-e0e770b0dde9/scratchpad/deck-img/12-revisa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76037" y="1536192"/>
            <a:ext cx="2227115" cy="4892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8178757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antigo → valor novo, com a citação e a fonte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Aceitar, editar ou descartar campo por campo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Ao recusar: dado errado / já fiz isso / não é prioridade agora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que não achou o cliente fica aqui, com [Vincular a…]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propostas expiram em 48h — e dizem isso na tela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JOGO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placar: você contra você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993124" y="1472184"/>
            <a:ext cx="2574036" cy="5020056"/>
          </a:xfrm>
          <a:prstGeom prst="roundRect">
            <a:avLst>
              <a:gd name="adj" fmla="val 4973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5400000">
              <a:srgbClr val="1E293B">
                <a:alpha val="35000"/>
              </a:srgbClr>
            </a:outerShdw>
          </a:effectLst>
        </p:spPr>
      </p:sp>
      <p:pic>
        <p:nvPicPr>
          <p:cNvPr id="5" name="Image 0" descr="/tmp/claude-0/-home-user-CRMbr/67fac10a-7b94-5ef8-b73c-e0e770b0dde9/scratchpad/deck-img/14-placa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57132" y="1536192"/>
            <a:ext cx="2446020" cy="4892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7959852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12000"/>
              </a:lnSpc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 semana contra a sua própria média de quatro semanas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time em quatro carris, cada um contra a meta dele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 posições, sem ranking, ninguém aparece como último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Cinco troféus na sexta 17h: Motor, Escalador, Conversador, Zelador, Reanimador</a:t>
            </a:r>
            <a:endParaRPr lang="en-US" sz="1600" dirty="0"/>
          </a:p>
          <a:p>
            <a:pPr marL="177800" indent="-177800">
              <a:lnSpc>
                <a:spcPct val="112000"/>
              </a:lnSpc>
              <a:spcBef>
                <a:spcPts val="200"/>
              </a:spcBef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número é tocável e explica como foi calculado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8" name="Text 5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38404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JOGO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713232"/>
            <a:ext cx="1090879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regras que nunca mudam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8695944" y="1578395"/>
            <a:ext cx="2871216" cy="4798490"/>
          </a:xfrm>
          <a:prstGeom prst="roundRect">
            <a:avLst>
              <a:gd name="adj" fmla="val 4459"/>
            </a:avLst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  <a:effectLst>
            <a:outerShdw sx="100000" sy="100000" kx="0" ky="0" algn="bl" rotWithShape="0" blurRad="152400" dist="38100" dir="5400000">
              <a:srgbClr val="1E293B">
                <a:alpha val="35000"/>
              </a:srgbClr>
            </a:outerShdw>
          </a:effectLst>
        </p:spPr>
      </p:sp>
      <p:pic>
        <p:nvPicPr>
          <p:cNvPr id="5" name="Image 0" descr="/tmp/claude-0/-home-user-CRMbr/67fac10a-7b94-5ef8-b73c-e0e770b0dde9/scratchpad/deck-img/15-mais-perf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59952" y="1642403"/>
            <a:ext cx="2743200" cy="467047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1645920"/>
            <a:ext cx="3721608" cy="148132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841248" y="1792224"/>
            <a:ext cx="3319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SE PERDE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841248" y="2304288"/>
            <a:ext cx="33192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feito sem sinal sobe sozinho depois</a:t>
            </a:r>
            <a:endParaRPr lang="en-US" sz="1350" dirty="0"/>
          </a:p>
        </p:txBody>
      </p:sp>
      <p:sp>
        <p:nvSpPr>
          <p:cNvPr id="9" name="Shape 6"/>
          <p:cNvSpPr/>
          <p:nvPr/>
        </p:nvSpPr>
        <p:spPr>
          <a:xfrm>
            <a:off x="4581144" y="1645920"/>
            <a:ext cx="3721608" cy="148132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4782312" y="1792224"/>
            <a:ext cx="3319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NADA SE APAGA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782312" y="2304288"/>
            <a:ext cx="33192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linha do tempo só cresce; a correção fica registrada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40080" y="3346704"/>
            <a:ext cx="3721608" cy="148132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841248" y="3493008"/>
            <a:ext cx="3319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NINGUÉM REGISTRA POR VOCÊ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841248" y="4005072"/>
            <a:ext cx="33192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Ventus propõe, quem confirma é você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581144" y="3346704"/>
            <a:ext cx="3721608" cy="1481328"/>
          </a:xfrm>
          <a:prstGeom prst="roundRect">
            <a:avLst>
              <a:gd name="adj" fmla="val 555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3493008"/>
            <a:ext cx="3319272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SEQUÊNCIA PERDOA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4782312" y="4005072"/>
            <a:ext cx="33192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Dois escudos e um resgate; a tela nunca mostra zero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640080" y="5047488"/>
            <a:ext cx="7662672" cy="13716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41248" y="5193792"/>
            <a:ext cx="7260336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spc="100" kern="0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DÁ PARA DESLIGAR O JOGO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841248" y="5705856"/>
            <a:ext cx="7260336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Mais → Ajustes, sem perder acesso a nada</a:t>
            </a:r>
            <a:endParaRPr lang="en-US" sz="135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6473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Ventus · treinamento</a:t>
            </a:r>
            <a:endParaRPr lang="en-US" sz="900" dirty="0"/>
          </a:p>
        </p:txBody>
      </p:sp>
      <p:sp>
        <p:nvSpPr>
          <p:cNvPr id="22" name="Text 19"/>
          <p:cNvSpPr txBox="1"/>
          <p:nvPr/>
        </p:nvSpPr>
        <p:spPr>
          <a:xfrm>
            <a:off x="11274552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B12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868680"/>
            <a:ext cx="108813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sua primeira semana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10312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371600" y="2103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 no telefone hoje e ligar os avisos</a:t>
            </a:r>
            <a:endParaRPr lang="en-US" sz="19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9504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1371600" y="2889504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Abrir o Hoje toda manhã: são três, e só três</a:t>
            </a:r>
            <a:endParaRPr lang="en-US" sz="19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67588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1371600" y="3675888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por voz na hora, nunca à noite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446227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1371600" y="4462272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Hour às 16h — meta de 4 toques por dia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5248656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1371600" y="5248656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avanço com citação por dia. É isso.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Qualquer coisa que travar: me chamem no mesmo dia.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Ventus — o CRM que diz o que fazer</dc:title>
  <dc:subject>PptxGenJS Presentation</dc:subject>
  <dc:creator>Ventapel Brasil</dc:creator>
  <cp:lastModifiedBy>Ventapel Brasil</cp:lastModifiedBy>
  <cp:revision>1</cp:revision>
  <dcterms:created xsi:type="dcterms:W3CDTF">2026-08-28T13:47:08Z</dcterms:created>
  <dcterms:modified xsi:type="dcterms:W3CDTF">2026-08-28T13:47:08Z</dcterms:modified>
</cp:coreProperties>
</file>